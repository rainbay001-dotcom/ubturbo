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12192000" cy="6858000" type="custom"/>
  <p:notesSz cx="6858000" cy="9144000"/>
  <p:defaultTextStyle>
    <a:defPPr>
      <a:defRPr lang="zh-CN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zh-CN" sz="3600" b="1">
          <a:solidFill>
            <a:schemeClr val="dk1"/>
          </a:solidFill>
          <a:latin typeface="Calibri"/>
          <a:ea typeface="Microsoft YaHei"/>
        </a:defRPr>
      </a:lvl1pPr>
    </p:titleStyle>
    <p:bodyStyle>
      <a:lvl1pPr>
        <a:defRPr lang="zh-CN" sz="1800">
          <a:solidFill>
            <a:schemeClr val="dk1"/>
          </a:solidFill>
          <a:latin typeface="Calibri"/>
          <a:ea typeface="Microsoft YaHei"/>
        </a:defRPr>
      </a:lvl1pPr>
    </p:bodyStyle>
    <p:otherStyle>
      <a:lvl1pPr>
        <a:defRPr lang="zh-CN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!-- Background -->
      <p:sp>
        <p:nvSpPr>
          <p:cNvPr id="100" name="bg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!-- Title bar -->
      <p:sp>
        <p:nvSpPr>
          <p:cNvPr id="101" name="titleBar"/>
          <p:cNvSpPr>
            <a:spLocks noGrp="1"/>
          </p:cNvSpPr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2E3D4A"/>
          </a:solidFill>
          <a:ln>
            <a:noFill/>
          </a:ln>
        </p:spPr>
        <p:txBody>
          <a:bodyPr/>
          <a:lstStyle/>
          <a:p/>
        </p:txBody>
      </p:sp>
      <!-- Orange left accent -->
      <p:sp>
        <p:nvSpPr>
          <p:cNvPr id="102" name="accent"/>
          <p:cNvSpPr>
            <a:spLocks noGrp="1"/>
          </p:cNvSpPr>
          <p:nvPr/>
        </p:nvSpPr>
        <p:spPr>
          <a:xfrm>
            <a:off x="0" y="0"/>
            <a:ext cx="91440" cy="594360"/>
          </a:xfrm>
          <a:prstGeom prst="rect">
            <a:avLst/>
          </a:prstGeom>
          <a:solidFill>
            <a:srgbClr val="C86010"/>
          </a:solidFill>
          <a:ln>
            <a:noFill/>
          </a:ln>
        </p:spPr>
        <p:txBody>
          <a:bodyPr/>
          <a:lstStyle/>
          <a:p/>
        </p:txBody>
      </p:sp>
      <!-- Title text -->
      <p:sp>
        <p:nvSpPr>
          <p:cNvPr id="103" name="titleTxt"/>
          <p:cNvSpPr txBox="1"/>
          <p:nvPr/>
        </p:nvSpPr>
        <p:spPr>
          <a:xfrm>
            <a:off x="201168" y="73152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zh-CN" altLang="en-US" sz="2200" b="1" dirty="0">
                <a:solidFill>
                  <a:srgbClr val="FFFFFF"/>
                </a:solidFill>
                <a:latin typeface="Calibri"/>
                <a:ea typeface="Microsoft YaHei"/>
              </a:rPr>
              <a:t>openclaw 业务场景 — SMAP 内存分层优化方案</a:t>
            </a:r>
          </a:p>
        </p:txBody>
      </p:sp>
      <!-- Slide number -->
      <p:sp>
        <p:nvSpPr>
          <p:cNvPr id="104" name="slideNum"/>
          <p:cNvSpPr txBox="1"/>
          <p:nvPr/>
        </p:nvSpPr>
        <p:spPr>
          <a:xfrm>
            <a:off x="11612880" y="9144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1600" b="1" dirty="0">
                <a:solidFill>
                  <a:srgbClr val="C86010"/>
                </a:solidFill>
                <a:latin typeface="Calibri"/>
              </a:rPr>
              <a:t>01</a:t>
            </a:r>
          </a:p>
        </p:txBody>
      </p:sp>
      <!-- Divider -->
      <p:sp>
        <p:nvSpPr>
          <p:cNvPr id="105" name="divider"/>
          <p:cNvSpPr>
            <a:spLocks noGrp="1"/>
          </p:cNvSpPr>
          <p:nvPr/>
        </p:nvSpPr>
        <p:spPr>
          <a:xfrm>
            <a:off x="0" y="594360"/>
            <a:ext cx="12192000" cy="36576"/>
          </a:xfrm>
          <a:prstGeom prst="rect">
            <a:avLst/>
          </a:prstGeom>
          <a:solidFill>
            <a:srgbClr val="3E5264"/>
          </a:solidFill>
          <a:ln>
            <a:noFill/>
          </a:ln>
        </p:spPr>
        <p:txBody>
          <a:bodyPr/>
          <a:lstStyle/>
          <a:p/>
        </p:txBody>
      </p:sp>
      <!-- COL1: 调用端 header -->
      <p:sp>
        <p:nvSpPr>
          <p:cNvPr id="106" name="col1hdr"/>
          <p:cNvSpPr>
            <a:spLocks noGrp="1"/>
          </p:cNvSpPr>
          <p:nvPr/>
        </p:nvSpPr>
        <p:spPr>
          <a:xfrm>
            <a:off x="137160" y="685800"/>
            <a:ext cx="2286000" cy="365760"/>
          </a:xfrm>
          <a:prstGeom prst="rect">
            <a:avLst/>
          </a:prstGeom>
          <a:solidFill>
            <a:srgbClr val="3E5264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Calibri"/>
                <a:ea typeface="Microsoft YaHei"/>
              </a:rPr>
              <a:t>调　用　端</a:t>
            </a:r>
          </a:p>
        </p:txBody>
      </p:sp>
      <!-- COL1: background -->
      <p:sp>
        <p:nvSpPr>
          <p:cNvPr id="107" name="col1bg"/>
          <p:cNvSpPr>
            <a:spLocks noGrp="1"/>
          </p:cNvSpPr>
          <p:nvPr/>
        </p:nvSpPr>
        <p:spPr>
          <a:xfrm>
            <a:off x="137160" y="1051560"/>
            <a:ext cx="2286000" cy="5441940"/>
          </a:xfrm>
          <a:prstGeom prst="rect">
            <a:avLst/>
          </a:prstGeom>
          <a:solidFill>
            <a:srgbClr val="F0F2F4"/>
          </a:solidFill>
          <a:ln w="9525">
            <a:solidFill>
              <a:srgbClr val="C8D4E0"/>
            </a:solidFill>
          </a:ln>
        </p:spPr>
        <p:txBody>
          <a:bodyPr/>
          <a:lstStyle/>
          <a:p/>
        </p:txBody>
      </p:sp>
      <!-- Person head ellipse -->
      <p:sp>
        <p:nvSpPr>
          <p:cNvPr id="108" name="head"/>
          <p:cNvSpPr>
            <a:spLocks noGrp="1"/>
          </p:cNvSpPr>
          <p:nvPr/>
        </p:nvSpPr>
        <p:spPr>
          <a:xfrm>
            <a:off x="1051560" y="1371600"/>
            <a:ext cx="457200" cy="457200"/>
          </a:xfrm>
          <a:prstGeom prst="ellipse">
            <a:avLst/>
          </a:prstGeom>
          <a:solidFill>
            <a:srgbClr val="3E5264"/>
          </a:solidFill>
          <a:ln>
            <a:noFill/>
          </a:ln>
        </p:spPr>
        <p:txBody>
          <a:bodyPr/>
          <a:lstStyle/>
          <a:p/>
        </p:txBody>
      </p:sp>
      <!-- Person body -->
      <p:sp>
        <p:nvSpPr>
          <p:cNvPr id="109" name="body"/>
          <p:cNvSpPr>
            <a:spLocks noGrp="1"/>
          </p:cNvSpPr>
          <p:nvPr/>
        </p:nvSpPr>
        <p:spPr>
          <a:xfrm>
            <a:off x="1115640" y="1876320"/>
            <a:ext cx="329040" cy="411480"/>
          </a:xfrm>
          <a:prstGeom prst="rect">
            <a:avLst/>
          </a:prstGeom>
          <a:solidFill>
            <a:srgbClr val="3E5264"/>
          </a:solidFill>
          <a:ln>
            <a:noFill/>
          </a:ln>
        </p:spPr>
        <p:txBody>
          <a:bodyPr/>
          <a:lstStyle/>
          <a:p/>
        </p:txBody>
      </p:sp>
      <!-- Caller label -->
      <p:sp>
        <p:nvSpPr>
          <p:cNvPr id="110" name="callerLbl"/>
          <p:cNvSpPr txBox="1"/>
          <p:nvPr/>
        </p:nvSpPr>
        <p:spPr>
          <a:xfrm>
            <a:off x="137160" y="2360000"/>
            <a:ext cx="2286000" cy="3204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zh-CN" sz="1300" b="1" dirty="0">
                <a:solidFill>
                  <a:srgbClr val="2E3D4A"/>
                </a:solidFill>
                <a:latin typeface="Calibri"/>
                <a:ea typeface="Microsoft YaHei"/>
              </a:rPr>
              <a:t>调　用　端</a:t>
            </a:r>
          </a:p>
        </p:txBody>
      </p:sp>
      <!-- Chip: 网页 -->
      <p:sp>
        <p:nvSpPr>
          <p:cNvPr id="111" name="chip0"/>
          <p:cNvSpPr>
            <a:spLocks noGrp="1"/>
          </p:cNvSpPr>
          <p:nvPr/>
        </p:nvSpPr>
        <p:spPr>
          <a:xfrm>
            <a:off x="228600" y="2740000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2E3D4A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Calibri"/>
                <a:ea typeface="Microsoft YaHei"/>
              </a:rPr>
              <a:t>网页</a:t>
            </a:r>
          </a:p>
        </p:txBody>
      </p:sp>
      <!-- Chip: 图片 -->
      <p:sp>
        <p:nvSpPr>
          <p:cNvPr id="112" name="chip1"/>
          <p:cNvSpPr>
            <a:spLocks noGrp="1"/>
          </p:cNvSpPr>
          <p:nvPr/>
        </p:nvSpPr>
        <p:spPr>
          <a:xfrm>
            <a:off x="1325880" y="2740000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3E5264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Calibri"/>
                <a:ea typeface="Microsoft YaHei"/>
              </a:rPr>
              <a:t>图片</a:t>
            </a:r>
          </a:p>
        </p:txBody>
      </p:sp>
      <!-- Chip: 脚本 -->
      <p:sp>
        <p:nvSpPr>
          <p:cNvPr id="113" name="chip2"/>
          <p:cNvSpPr>
            <a:spLocks noGrp="1"/>
          </p:cNvSpPr>
          <p:nvPr/>
        </p:nvSpPr>
        <p:spPr>
          <a:xfrm>
            <a:off x="228600" y="3081528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C86010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Calibri"/>
                <a:ea typeface="Microsoft YaHei"/>
              </a:rPr>
              <a:t>脚本</a:t>
            </a:r>
          </a:p>
        </p:txBody>
      </p:sp>
      <!-- Chip: 数据 -->
      <p:sp>
        <p:nvSpPr>
          <p:cNvPr id="114" name="chip3"/>
          <p:cNvSpPr>
            <a:spLocks noGrp="1"/>
          </p:cNvSpPr>
          <p:nvPr/>
        </p:nvSpPr>
        <p:spPr>
          <a:xfrm>
            <a:off x="1325880" y="3081528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3E5264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Calibri"/>
                <a:ea typeface="Microsoft YaHei"/>
              </a:rPr>
              <a:t>数据</a:t>
            </a:r>
          </a:p>
        </p:txBody>
      </p:sp>
      <!-- Chip: 媒体 -->
      <p:sp>
        <p:nvSpPr>
          <p:cNvPr id="115" name="chip4"/>
          <p:cNvSpPr>
            <a:spLocks noGrp="1"/>
          </p:cNvSpPr>
          <p:nvPr/>
        </p:nvSpPr>
        <p:spPr>
          <a:xfrm>
            <a:off x="228600" y="3422856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D07020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Calibri"/>
                <a:ea typeface="Microsoft YaHei"/>
              </a:rPr>
              <a:t>媒体</a:t>
            </a:r>
          </a:p>
        </p:txBody>
      </p:sp>
      <!-- Chip: API -->
      <p:sp>
        <p:nvSpPr>
          <p:cNvPr id="116" name="chip5"/>
          <p:cNvSpPr>
            <a:spLocks noGrp="1"/>
          </p:cNvSpPr>
          <p:nvPr/>
        </p:nvSpPr>
        <p:spPr>
          <a:xfrm>
            <a:off x="1325880" y="3422856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2E3D4A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!-- Caller description -->
      <p:sp>
        <p:nvSpPr>
          <p:cNvPr id="117" name="callerDesc"/>
          <p:cNvSpPr txBox="1"/>
          <p:nvPr/>
        </p:nvSpPr>
        <p:spPr>
          <a:xfrm>
            <a:off x="228600" y="3800000"/>
            <a:ext cx="2100000" cy="60000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pPr algn="ctr"/>
            <a:r>
              <a:rPr lang="zh-CN" sz="900" dirty="0">
                <a:solidFill>
                  <a:srgbClr val="444444"/>
                </a:solidFill>
                <a:latin typeface="Calibri"/>
                <a:ea typeface="Microsoft YaHei"/>
              </a:rPr>
              <a:t>批量任务 · 采集脚本</a:t>
            </a:r>
          </a:p>
          <a:p>
            <a:pPr algn="ctr"/>
            <a:r>
              <a:rPr lang="zh-CN" sz="900" dirty="0">
                <a:solidFill>
                  <a:srgbClr val="444444"/>
                </a:solidFill>
                <a:latin typeface="Calibri"/>
                <a:ea typeface="Microsoft YaHei"/>
              </a:rPr>
              <a:t>自动化测试 · API 调用</a:t>
            </a:r>
          </a:p>
        </p:txBody>
      </p:sp>
      <!-- Arrow col1 -> col2 -->
      <p:cxnSp>
        <p:nvCxnSpPr>
          <p:cNvPr id="118" name="arr1"/>
          <p:cNvCxnSpPr/>
          <p:nvPr/>
        </p:nvCxnSpPr>
        <p:spPr>
          <a:xfrm>
            <a:off x="2459736" y="1783080"/>
            <a:ext cx="64488" cy="1"/>
          </a:xfrm>
          <a:prstGeom prst="line">
            <a:avLst/>
          </a:prstGeom>
          <a:noFill/>
          <a:ln w="25400">
            <a:solidFill>
              <a:srgbClr val="3E5264"/>
            </a:solidFill>
            <a:headEnd type="none"/>
            <a:tailEnd type="arrow" w="med" len="med"/>
          </a:ln>
        </p:spPr>
      </p:cxnSp>
      <!-- COL2: VM header -->
      <p:sp>
        <p:nvSpPr>
          <p:cNvPr id="119" name="col2hdr"/>
          <p:cNvSpPr>
            <a:spLocks noGrp="1"/>
          </p:cNvSpPr>
          <p:nvPr/>
        </p:nvSpPr>
        <p:spPr>
          <a:xfrm>
            <a:off x="2560800" y="685800"/>
            <a:ext cx="4847280" cy="365760"/>
          </a:xfrm>
          <a:prstGeom prst="rect">
            <a:avLst/>
          </a:prstGeom>
          <a:solidFill>
            <a:srgbClr val="C86010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Calibri"/>
                <a:ea typeface="Microsoft YaHei"/>
              </a:rPr>
              <a:t>宿主机虚机层 · openclaw browser</a:t>
            </a:r>
          </a:p>
        </p:txBody>
      </p:sp>
      <!-- COL2: background -->
      <p:sp>
        <p:nvSpPr>
          <p:cNvPr id="120" name="col2bg"/>
          <p:cNvSpPr>
            <a:spLocks noGrp="1"/>
          </p:cNvSpPr>
          <p:nvPr/>
        </p:nvSpPr>
        <p:spPr>
          <a:xfrm>
            <a:off x="2560800" y="1051560"/>
            <a:ext cx="4847280" cy="5441940"/>
          </a:xfrm>
          <a:prstGeom prst="rect">
            <a:avLst/>
          </a:prstGeom>
          <a:solidFill>
            <a:srgbClr val="FFF0E0"/>
          </a:solidFill>
          <a:ln w="9525">
            <a:solidFill>
              <a:srgbClr val="C8D4E0"/>
            </a:solidFill>
          </a:ln>
        </p:spPr>
        <p:txBody>
          <a:bodyPr/>
          <a:lstStyle/>
          <a:p/>
        </p:txBody>
      </p:sp>
      <!-- VM01 box -->
      <p:sp>
        <p:nvSpPr>
          <p:cNvPr id="121" name="vm01"/>
          <p:cNvSpPr>
            <a:spLocks noGrp="1"/>
          </p:cNvSpPr>
          <p:nvPr/>
        </p:nvSpPr>
        <p:spPr>
          <a:xfrm>
            <a:off x="2697960" y="1234440"/>
            <a:ext cx="1417320" cy="1600200"/>
          </a:xfrm>
          <a:prstGeom prst="roundRect">
            <a:avLst>
              <a:gd name="adj" fmla="val 10000"/>
            </a:avLst>
          </a:prstGeom>
          <a:solidFill>
            <a:srgbClr val="FFF8F0"/>
          </a:solidFill>
          <a:ln w="19050">
            <a:solidFill>
              <a:srgbClr val="C86010"/>
            </a:solidFill>
          </a:ln>
        </p:spPr>
        <p:txBody>
          <a:bodyPr/>
          <a:lstStyle/>
          <a:p/>
        </p:txBody>
      </p:sp>
      <!-- VM01 screen -->
      <p:sp>
        <p:nvSpPr>
          <p:cNvPr id="122" name="vm01sc"/>
          <p:cNvSpPr>
            <a:spLocks noGrp="1"/>
          </p:cNvSpPr>
          <p:nvPr/>
        </p:nvSpPr>
        <p:spPr>
          <a:xfrm>
            <a:off x="2880840" y="1325880"/>
            <a:ext cx="1051560" cy="685800"/>
          </a:xfrm>
          <a:prstGeom prst="rect">
            <a:avLst/>
          </a:prstGeom>
          <a:solidFill>
            <a:srgbClr val="2E3D4A"/>
          </a:solidFill>
          <a:ln>
            <a:noFill/>
          </a:ln>
        </p:spPr>
        <p:txBody>
          <a:bodyPr/>
          <a:lstStyle/>
          <a:p/>
        </p:txBody>
      </p:sp>
      <!-- VM01 address bar -->
      <p:sp>
        <p:nvSpPr>
          <p:cNvPr id="123" name="vm01bar"/>
          <p:cNvSpPr>
            <a:spLocks noGrp="1"/>
          </p:cNvSpPr>
          <p:nvPr/>
        </p:nvSpPr>
        <p:spPr>
          <a:xfrm>
            <a:off x="2935704" y="1399032"/>
            <a:ext cx="94183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!-- VM01 content line1 -->
      <p:sp>
        <p:nvSpPr>
          <p:cNvPr id="124" name="vm01l1"/>
          <p:cNvSpPr>
            <a:spLocks noGrp="1"/>
          </p:cNvSpPr>
          <p:nvPr/>
        </p:nvSpPr>
        <p:spPr>
          <a:xfrm>
            <a:off x="2935704" y="1545000"/>
            <a:ext cx="80000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/>
          <a:lstStyle/>
          <a:p/>
        </p:txBody>
      </p:sp>
      <!-- VM01 content line2 -->
      <p:sp>
        <p:nvSpPr>
          <p:cNvPr id="125" name="vm01l2"/>
          <p:cNvSpPr>
            <a:spLocks noGrp="1"/>
          </p:cNvSpPr>
          <p:nvPr/>
        </p:nvSpPr>
        <p:spPr>
          <a:xfrm>
            <a:off x="2935704" y="1645000"/>
            <a:ext cx="60000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/>
          <a:lstStyle/>
          <a:p/>
        </p:txBody>
      </p:sp>
      <!-- VM01 label -->
      <p:sp>
        <p:nvSpPr>
          <p:cNvPr id="126" name="vm01lbl"/>
          <p:cNvSpPr txBox="1"/>
          <p:nvPr/>
        </p:nvSpPr>
        <p:spPr>
          <a:xfrm>
            <a:off x="2697960" y="206000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C86010"/>
                </a:solidFill>
                <a:latin typeface="Calibri"/>
              </a:rPr>
              <a:t>VM-01</a:t>
            </a:r>
          </a:p>
        </p:txBody>
      </p:sp>
      <!-- VM01 openclaw label -->
      <p:sp>
        <p:nvSpPr>
          <p:cNvPr id="127" name="vm01oc"/>
          <p:cNvSpPr txBox="1"/>
          <p:nvPr/>
        </p:nvSpPr>
        <p:spPr>
          <a:xfrm>
            <a:off x="2697960" y="229000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50" dirty="0">
                <a:solidFill>
                  <a:srgbClr val="444444"/>
                </a:solidFill>
                <a:latin typeface="Calibri"/>
              </a:rPr>
              <a:t>openclaw</a:t>
            </a:r>
          </a:p>
        </p:txBody>
      </p:sp>
      <!-- VM02 box -->
      <p:sp>
        <p:nvSpPr>
          <p:cNvPr id="128" name="vm02"/>
          <p:cNvSpPr>
            <a:spLocks noGrp="1"/>
          </p:cNvSpPr>
          <p:nvPr/>
        </p:nvSpPr>
        <p:spPr>
          <a:xfrm>
            <a:off x="4206720" y="1234440"/>
            <a:ext cx="1417320" cy="1600200"/>
          </a:xfrm>
          <a:prstGeom prst="roundRect">
            <a:avLst>
              <a:gd name="adj" fmla="val 10000"/>
            </a:avLst>
          </a:prstGeom>
          <a:solidFill>
            <a:srgbClr val="FFF8F0"/>
          </a:solidFill>
          <a:ln w="19050">
            <a:solidFill>
              <a:srgbClr val="C86010"/>
            </a:solidFill>
          </a:ln>
        </p:spPr>
        <p:txBody>
          <a:bodyPr/>
          <a:lstStyle/>
          <a:p/>
        </p:txBody>
      </p:sp>
      <p:sp>
        <p:nvSpPr>
          <p:cNvPr id="129" name="vm02sc"/>
          <p:cNvSpPr>
            <a:spLocks noGrp="1"/>
          </p:cNvSpPr>
          <p:nvPr/>
        </p:nvSpPr>
        <p:spPr>
          <a:xfrm>
            <a:off x="4389600" y="1325880"/>
            <a:ext cx="1051560" cy="685800"/>
          </a:xfrm>
          <a:prstGeom prst="rect">
            <a:avLst/>
          </a:prstGeom>
          <a:solidFill>
            <a:srgbClr val="2E3D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vm02bar"/>
          <p:cNvSpPr>
            <a:spLocks noGrp="1"/>
          </p:cNvSpPr>
          <p:nvPr/>
        </p:nvSpPr>
        <p:spPr>
          <a:xfrm>
            <a:off x="4444464" y="1399032"/>
            <a:ext cx="94183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vm02l1"/>
          <p:cNvSpPr>
            <a:spLocks noGrp="1"/>
          </p:cNvSpPr>
          <p:nvPr/>
        </p:nvSpPr>
        <p:spPr>
          <a:xfrm>
            <a:off x="4444464" y="1545000"/>
            <a:ext cx="80000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vm02l2"/>
          <p:cNvSpPr>
            <a:spLocks noGrp="1"/>
          </p:cNvSpPr>
          <p:nvPr/>
        </p:nvSpPr>
        <p:spPr>
          <a:xfrm>
            <a:off x="4444464" y="1645000"/>
            <a:ext cx="60000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vm02lbl"/>
          <p:cNvSpPr txBox="1"/>
          <p:nvPr/>
        </p:nvSpPr>
        <p:spPr>
          <a:xfrm>
            <a:off x="4206720" y="206000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C86010"/>
                </a:solidFill>
                <a:latin typeface="Calibri"/>
              </a:rPr>
              <a:t>VM-02</a:t>
            </a:r>
          </a:p>
        </p:txBody>
      </p:sp>
      <p:sp>
        <p:nvSpPr>
          <p:cNvPr id="134" name="vm02oc"/>
          <p:cNvSpPr txBox="1"/>
          <p:nvPr/>
        </p:nvSpPr>
        <p:spPr>
          <a:xfrm>
            <a:off x="4206720" y="229000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50" dirty="0">
                <a:solidFill>
                  <a:srgbClr val="444444"/>
                </a:solidFill>
                <a:latin typeface="Calibri"/>
              </a:rPr>
              <a:t>openclaw</a:t>
            </a:r>
          </a:p>
        </p:txBody>
      </p:sp>
      <!-- VM03 box -->
      <p:sp>
        <p:nvSpPr>
          <p:cNvPr id="135" name="vm03"/>
          <p:cNvSpPr>
            <a:spLocks noGrp="1"/>
          </p:cNvSpPr>
          <p:nvPr/>
        </p:nvSpPr>
        <p:spPr>
          <a:xfrm>
            <a:off x="5715480" y="1234440"/>
            <a:ext cx="1417320" cy="1600200"/>
          </a:xfrm>
          <a:prstGeom prst="roundRect">
            <a:avLst>
              <a:gd name="adj" fmla="val 10000"/>
            </a:avLst>
          </a:prstGeom>
          <a:solidFill>
            <a:srgbClr val="FFF8F0"/>
          </a:solidFill>
          <a:ln w="19050">
            <a:solidFill>
              <a:srgbClr val="C86010"/>
            </a:solidFill>
          </a:ln>
        </p:spPr>
        <p:txBody>
          <a:bodyPr/>
          <a:lstStyle/>
          <a:p/>
        </p:txBody>
      </p:sp>
      <p:sp>
        <p:nvSpPr>
          <p:cNvPr id="136" name="vm03sc"/>
          <p:cNvSpPr>
            <a:spLocks noGrp="1"/>
          </p:cNvSpPr>
          <p:nvPr/>
        </p:nvSpPr>
        <p:spPr>
          <a:xfrm>
            <a:off x="5898360" y="1325880"/>
            <a:ext cx="1051560" cy="685800"/>
          </a:xfrm>
          <a:prstGeom prst="rect">
            <a:avLst/>
          </a:prstGeom>
          <a:solidFill>
            <a:srgbClr val="2E3D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vm03bar"/>
          <p:cNvSpPr>
            <a:spLocks noGrp="1"/>
          </p:cNvSpPr>
          <p:nvPr/>
        </p:nvSpPr>
        <p:spPr>
          <a:xfrm>
            <a:off x="5953224" y="1399032"/>
            <a:ext cx="94183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vm03l1"/>
          <p:cNvSpPr>
            <a:spLocks noGrp="1"/>
          </p:cNvSpPr>
          <p:nvPr/>
        </p:nvSpPr>
        <p:spPr>
          <a:xfrm>
            <a:off x="5953224" y="1545000"/>
            <a:ext cx="80000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vm03l2"/>
          <p:cNvSpPr>
            <a:spLocks noGrp="1"/>
          </p:cNvSpPr>
          <p:nvPr/>
        </p:nvSpPr>
        <p:spPr>
          <a:xfrm>
            <a:off x="5953224" y="1645000"/>
            <a:ext cx="60000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vm03lbl"/>
          <p:cNvSpPr txBox="1"/>
          <p:nvPr/>
        </p:nvSpPr>
        <p:spPr>
          <a:xfrm>
            <a:off x="5715480" y="206000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C86010"/>
                </a:solidFill>
                <a:latin typeface="Calibri"/>
              </a:rPr>
              <a:t>VM-03</a:t>
            </a:r>
          </a:p>
        </p:txBody>
      </p:sp>
      <p:sp>
        <p:nvSpPr>
          <p:cNvPr id="141" name="vm03oc"/>
          <p:cNvSpPr txBox="1"/>
          <p:nvPr/>
        </p:nvSpPr>
        <p:spPr>
          <a:xfrm>
            <a:off x="5715480" y="229000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50" dirty="0">
                <a:solidFill>
                  <a:srgbClr val="444444"/>
                </a:solidFill>
                <a:latin typeface="Calibri"/>
              </a:rPr>
              <a:t>openclaw</a:t>
            </a:r>
          </a:p>
        </p:txBody>
      </p:sp>
      <!-- VM04 (expansion, row2) -->
      <p:sp>
        <p:nvSpPr>
          <p:cNvPr id="142" name="vm04"/>
          <p:cNvSpPr>
            <a:spLocks noGrp="1"/>
          </p:cNvSpPr>
          <p:nvPr/>
        </p:nvSpPr>
        <p:spPr>
          <a:xfrm>
            <a:off x="2697960" y="3063240"/>
            <a:ext cx="1417320" cy="16002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25400">
            <a:solidFill>
              <a:srgbClr val="D07020"/>
            </a:solidFill>
          </a:ln>
        </p:spPr>
        <p:txBody>
          <a:bodyPr/>
          <a:lstStyle/>
          <a:p/>
        </p:txBody>
      </p:sp>
      <p:sp>
        <p:nvSpPr>
          <p:cNvPr id="143" name="vm04sc"/>
          <p:cNvSpPr>
            <a:spLocks noGrp="1"/>
          </p:cNvSpPr>
          <p:nvPr/>
        </p:nvSpPr>
        <p:spPr>
          <a:xfrm>
            <a:off x="2880840" y="3154680"/>
            <a:ext cx="1051560" cy="685800"/>
          </a:xfrm>
          <a:prstGeom prst="rect">
            <a:avLst/>
          </a:prstGeom>
          <a:solidFill>
            <a:srgbClr val="2E3D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vm04bar"/>
          <p:cNvSpPr>
            <a:spLocks noGrp="1"/>
          </p:cNvSpPr>
          <p:nvPr/>
        </p:nvSpPr>
        <p:spPr>
          <a:xfrm>
            <a:off x="2935704" y="3227832"/>
            <a:ext cx="94183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vm04l1"/>
          <p:cNvSpPr>
            <a:spLocks noGrp="1"/>
          </p:cNvSpPr>
          <p:nvPr/>
        </p:nvSpPr>
        <p:spPr>
          <a:xfrm>
            <a:off x="2935704" y="3374000"/>
            <a:ext cx="80000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vm04lbl"/>
          <p:cNvSpPr txBox="1"/>
          <p:nvPr/>
        </p:nvSpPr>
        <p:spPr>
          <a:xfrm>
            <a:off x="2697960" y="388800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D07020"/>
                </a:solidFill>
                <a:latin typeface="Calibri"/>
              </a:rPr>
              <a:t>VM-04 ★</a:t>
            </a:r>
          </a:p>
        </p:txBody>
      </p:sp>
      <p:sp>
        <p:nvSpPr>
          <p:cNvPr id="147" name="vm04oc"/>
          <p:cNvSpPr txBox="1"/>
          <p:nvPr/>
        </p:nvSpPr>
        <p:spPr>
          <a:xfrm>
            <a:off x="2697960" y="412000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50" dirty="0">
                <a:solidFill>
                  <a:srgbClr val="444444"/>
                </a:solidFill>
                <a:latin typeface="Calibri"/>
              </a:rPr>
              <a:t>openclaw</a:t>
            </a:r>
          </a:p>
        </p:txBody>
      </p:sp>
      <!-- VM05 -->
      <p:sp>
        <p:nvSpPr>
          <p:cNvPr id="148" name="vm05"/>
          <p:cNvSpPr>
            <a:spLocks noGrp="1"/>
          </p:cNvSpPr>
          <p:nvPr/>
        </p:nvSpPr>
        <p:spPr>
          <a:xfrm>
            <a:off x="4206720" y="3063240"/>
            <a:ext cx="1417320" cy="16002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25400">
            <a:solidFill>
              <a:srgbClr val="D07020"/>
            </a:solidFill>
          </a:ln>
        </p:spPr>
        <p:txBody>
          <a:bodyPr/>
          <a:lstStyle/>
          <a:p/>
        </p:txBody>
      </p:sp>
      <p:sp>
        <p:nvSpPr>
          <p:cNvPr id="149" name="vm05sc"/>
          <p:cNvSpPr>
            <a:spLocks noGrp="1"/>
          </p:cNvSpPr>
          <p:nvPr/>
        </p:nvSpPr>
        <p:spPr>
          <a:xfrm>
            <a:off x="4389600" y="3154680"/>
            <a:ext cx="1051560" cy="685800"/>
          </a:xfrm>
          <a:prstGeom prst="rect">
            <a:avLst/>
          </a:prstGeom>
          <a:solidFill>
            <a:srgbClr val="2E3D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vm05bar"/>
          <p:cNvSpPr>
            <a:spLocks noGrp="1"/>
          </p:cNvSpPr>
          <p:nvPr/>
        </p:nvSpPr>
        <p:spPr>
          <a:xfrm>
            <a:off x="4444464" y="3227832"/>
            <a:ext cx="94183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vm05l1"/>
          <p:cNvSpPr>
            <a:spLocks noGrp="1"/>
          </p:cNvSpPr>
          <p:nvPr/>
        </p:nvSpPr>
        <p:spPr>
          <a:xfrm>
            <a:off x="4444464" y="3374000"/>
            <a:ext cx="80000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vm05lbl"/>
          <p:cNvSpPr txBox="1"/>
          <p:nvPr/>
        </p:nvSpPr>
        <p:spPr>
          <a:xfrm>
            <a:off x="4206720" y="388800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D07020"/>
                </a:solidFill>
                <a:latin typeface="Calibri"/>
              </a:rPr>
              <a:t>VM-05 ★</a:t>
            </a:r>
          </a:p>
        </p:txBody>
      </p:sp>
      <p:sp>
        <p:nvSpPr>
          <p:cNvPr id="153" name="vm05oc"/>
          <p:cNvSpPr txBox="1"/>
          <p:nvPr/>
        </p:nvSpPr>
        <p:spPr>
          <a:xfrm>
            <a:off x="4206720" y="412000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50" dirty="0">
                <a:solidFill>
                  <a:srgbClr val="444444"/>
                </a:solidFill>
                <a:latin typeface="Calibri"/>
              </a:rPr>
              <a:t>openclaw</a:t>
            </a:r>
          </a:p>
        </p:txBody>
      </p:sp>
      <!-- VM06 -->
      <p:sp>
        <p:nvSpPr>
          <p:cNvPr id="154" name="vm06"/>
          <p:cNvSpPr>
            <a:spLocks noGrp="1"/>
          </p:cNvSpPr>
          <p:nvPr/>
        </p:nvSpPr>
        <p:spPr>
          <a:xfrm>
            <a:off x="5715480" y="3063240"/>
            <a:ext cx="1417320" cy="16002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25400">
            <a:solidFill>
              <a:srgbClr val="D07020"/>
            </a:solidFill>
          </a:ln>
        </p:spPr>
        <p:txBody>
          <a:bodyPr/>
          <a:lstStyle/>
          <a:p/>
        </p:txBody>
      </p:sp>
      <p:sp>
        <p:nvSpPr>
          <p:cNvPr id="155" name="vm06sc"/>
          <p:cNvSpPr>
            <a:spLocks noGrp="1"/>
          </p:cNvSpPr>
          <p:nvPr/>
        </p:nvSpPr>
        <p:spPr>
          <a:xfrm>
            <a:off x="5898360" y="3154680"/>
            <a:ext cx="1051560" cy="685800"/>
          </a:xfrm>
          <a:prstGeom prst="rect">
            <a:avLst/>
          </a:prstGeom>
          <a:solidFill>
            <a:srgbClr val="2E3D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vm06bar"/>
          <p:cNvSpPr>
            <a:spLocks noGrp="1"/>
          </p:cNvSpPr>
          <p:nvPr/>
        </p:nvSpPr>
        <p:spPr>
          <a:xfrm>
            <a:off x="5953224" y="3227832"/>
            <a:ext cx="94183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vm06l1"/>
          <p:cNvSpPr>
            <a:spLocks noGrp="1"/>
          </p:cNvSpPr>
          <p:nvPr/>
        </p:nvSpPr>
        <p:spPr>
          <a:xfrm>
            <a:off x="5953224" y="3374000"/>
            <a:ext cx="800000" cy="6400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vm06lbl"/>
          <p:cNvSpPr txBox="1"/>
          <p:nvPr/>
        </p:nvSpPr>
        <p:spPr>
          <a:xfrm>
            <a:off x="5715480" y="388800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1000" b="1" dirty="0">
                <a:solidFill>
                  <a:srgbClr val="D07020"/>
                </a:solidFill>
                <a:latin typeface="Calibri"/>
              </a:rPr>
              <a:t>VM-06 ★</a:t>
            </a:r>
          </a:p>
        </p:txBody>
      </p:sp>
      <p:sp>
        <p:nvSpPr>
          <p:cNvPr id="159" name="vm06oc"/>
          <p:cNvSpPr txBox="1"/>
          <p:nvPr/>
        </p:nvSpPr>
        <p:spPr>
          <a:xfrm>
            <a:off x="5715480" y="412000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ctr"/>
            <a:r>
              <a:rPr lang="en-US" sz="850" dirty="0">
                <a:solidFill>
                  <a:srgbClr val="444444"/>
                </a:solidFill>
                <a:latin typeface="Calibri"/>
              </a:rPr>
              <a:t>openclaw</a:t>
            </a:r>
          </a:p>
        </p:txBody>
      </p:sp>
      <!-- SMAP status pill -->
      <p:sp>
        <p:nvSpPr>
          <p:cNvPr id="160" name="smapPill"/>
          <p:cNvSpPr>
            <a:spLocks noGrp="1"/>
          </p:cNvSpPr>
          <p:nvPr/>
        </p:nvSpPr>
        <p:spPr>
          <a:xfrm>
            <a:off x="2835120" y="4983480"/>
            <a:ext cx="4298640" cy="320040"/>
          </a:xfrm>
          <a:prstGeom prst="roundRect">
            <a:avLst>
              <a:gd name="adj" fmla="val 25000"/>
            </a:avLst>
          </a:prstGeom>
          <a:solidFill>
            <a:srgbClr val="1A6A30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Calibri"/>
                <a:ea typeface="Microsoft YaHei"/>
              </a:rPr>
              <a:t>✓  SMAP 已启用 — 冷页面自动卸载至 L2 / L3</a:t>
            </a:r>
          </a:p>
        </p:txBody>
      </p:sp>
      <!-- Oversubscription labels -->
      <p:sp>
        <p:nvSpPr>
          <p:cNvPr id="161" name="ovr1lbl"/>
          <p:cNvSpPr txBox="1"/>
          <p:nvPr/>
        </p:nvSpPr>
        <p:spPr>
          <a:xfrm>
            <a:off x="2744760" y="544068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zh-CN" sz="900" dirty="0">
                <a:solidFill>
                  <a:srgbClr val="444444"/>
                </a:solidFill>
                <a:latin typeface="Calibri"/>
                <a:ea typeface="Microsoft YaHei"/>
              </a:rPr>
              <a:t>无 SMAP   超分比: 1×</a:t>
            </a:r>
          </a:p>
        </p:txBody>
      </p:sp>
      <p:sp>
        <p:nvSpPr>
          <p:cNvPr id="162" name="ovr1bg"/>
          <p:cNvSpPr>
            <a:spLocks noGrp="1"/>
          </p:cNvSpPr>
          <p:nvPr/>
        </p:nvSpPr>
        <p:spPr>
          <a:xfrm>
            <a:off x="2744760" y="5715000"/>
            <a:ext cx="1828800" cy="164592"/>
          </a:xfrm>
          <a:prstGeom prst="rect">
            <a:avLst/>
          </a:prstGeom>
          <a:solidFill>
            <a:srgbClr val="C8D4E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ovr1fg"/>
          <p:cNvSpPr>
            <a:spLocks noGrp="1"/>
          </p:cNvSpPr>
          <p:nvPr/>
        </p:nvSpPr>
        <p:spPr>
          <a:xfrm>
            <a:off x="2744760" y="5715000"/>
            <a:ext cx="914400" cy="164592"/>
          </a:xfrm>
          <a:prstGeom prst="rect">
            <a:avLst/>
          </a:prstGeom>
          <a:solidFill>
            <a:srgbClr val="3E526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ovr2lbl"/>
          <p:cNvSpPr txBox="1"/>
          <p:nvPr/>
        </p:nvSpPr>
        <p:spPr>
          <a:xfrm>
            <a:off x="5030280" y="544068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zh-CN" sz="900" dirty="0">
                <a:solidFill>
                  <a:srgbClr val="C86010"/>
                </a:solidFill>
                <a:latin typeface="Calibri"/>
                <a:ea typeface="Microsoft YaHei"/>
              </a:rPr>
              <a:t>启用 SMAP  超分比: ↑ 1.8×</a:t>
            </a:r>
          </a:p>
        </p:txBody>
      </p:sp>
      <p:sp>
        <p:nvSpPr>
          <p:cNvPr id="165" name="ovr2bg"/>
          <p:cNvSpPr>
            <a:spLocks noGrp="1"/>
          </p:cNvSpPr>
          <p:nvPr/>
        </p:nvSpPr>
        <p:spPr>
          <a:xfrm>
            <a:off x="5030280" y="5715000"/>
            <a:ext cx="1828800" cy="164592"/>
          </a:xfrm>
          <a:prstGeom prst="rect">
            <a:avLst/>
          </a:prstGeom>
          <a:solidFill>
            <a:srgbClr val="C8D4E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ovr2fg"/>
          <p:cNvSpPr>
            <a:spLocks noGrp="1"/>
          </p:cNvSpPr>
          <p:nvPr/>
        </p:nvSpPr>
        <p:spPr>
          <a:xfrm>
            <a:off x="5030280" y="5715000"/>
            <a:ext cx="1645920" cy="164592"/>
          </a:xfrm>
          <a:prstGeom prst="rect">
            <a:avLst/>
          </a:prstGeom>
          <a:solidFill>
            <a:srgbClr val="C86010"/>
          </a:solidFill>
          <a:ln>
            <a:noFill/>
          </a:ln>
        </p:spPr>
        <p:txBody>
          <a:bodyPr/>
          <a:lstStyle/>
          <a:p/>
        </p:txBody>
      </p:sp>
      <!-- Arrow col2 -> col3 -->
      <p:cxnSp>
        <p:nvCxnSpPr>
          <p:cNvPr id="167" name="arr2"/>
          <p:cNvCxnSpPr/>
          <p:nvPr/>
        </p:nvCxnSpPr>
        <p:spPr>
          <a:xfrm>
            <a:off x="7444656" y="1783080"/>
            <a:ext cx="62208" cy="1"/>
          </a:xfrm>
          <a:prstGeom prst="line">
            <a:avLst/>
          </a:prstGeom>
          <a:noFill/>
          <a:ln w="25400">
            <a:solidFill>
              <a:srgbClr val="3E5264"/>
            </a:solidFill>
            <a:headEnd type="none"/>
            <a:tailEnd type="arrow" w="med" len="med"/>
          </a:ln>
        </p:spPr>
      </p:cxnSp>
      <!-- COL3: memory header -->
      <p:sp>
        <p:nvSpPr>
          <p:cNvPr id="168" name="col3hdr"/>
          <p:cNvSpPr>
            <a:spLocks noGrp="1"/>
          </p:cNvSpPr>
          <p:nvPr/>
        </p:nvSpPr>
        <p:spPr>
          <a:xfrm>
            <a:off x="7543440" y="685800"/>
            <a:ext cx="4511160" cy="365760"/>
          </a:xfrm>
          <a:prstGeom prst="rect">
            <a:avLst/>
          </a:prstGeom>
          <a:solidFill>
            <a:srgbClr val="3E5264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Calibri"/>
                <a:ea typeface="Microsoft YaHei"/>
              </a:rPr>
              <a:t>SMAP 三级内存分层</a:t>
            </a:r>
          </a:p>
        </p:txBody>
      </p:sp>
      <!-- COL3: background -->
      <p:sp>
        <p:nvSpPr>
          <p:cNvPr id="169" name="col3bg"/>
          <p:cNvSpPr>
            <a:spLocks noGrp="1"/>
          </p:cNvSpPr>
          <p:nvPr/>
        </p:nvSpPr>
        <p:spPr>
          <a:xfrm>
            <a:off x="7543440" y="1051560"/>
            <a:ext cx="4511160" cy="5441940"/>
          </a:xfrm>
          <a:prstGeom prst="rect">
            <a:avLst/>
          </a:prstGeom>
          <a:solidFill>
            <a:srgbClr val="F0F2F4"/>
          </a:solidFill>
          <a:ln w="9525">
            <a:solidFill>
              <a:srgbClr val="C8D4E0"/>
            </a:solidFill>
          </a:ln>
        </p:spPr>
        <p:txBody>
          <a:bodyPr/>
          <a:lstStyle/>
          <a:p/>
        </p:txBody>
      </p:sp>
      <!-- L1 DRAM background -->
      <p:sp>
        <p:nvSpPr>
          <p:cNvPr id="170" name="l1bg"/>
          <p:cNvSpPr>
            <a:spLocks noGrp="1"/>
          </p:cNvSpPr>
          <p:nvPr/>
        </p:nvSpPr>
        <p:spPr>
          <a:xfrm>
            <a:off x="7543440" y="1143000"/>
            <a:ext cx="4511160" cy="1645920"/>
          </a:xfrm>
          <a:prstGeom prst="rect">
            <a:avLst/>
          </a:prstGeom>
          <a:solidFill>
            <a:srgbClr val="E8EEF8"/>
          </a:solidFill>
          <a:ln w="19050">
            <a:solidFill>
              <a:srgbClr val="2E528A"/>
            </a:solidFill>
          </a:ln>
        </p:spPr>
        <p:txBody>
          <a:bodyPr/>
          <a:lstStyle/>
          <a:p/>
        </p:txBody>
      </p:sp>
      <!-- L1 header -->
      <p:sp>
        <p:nvSpPr>
          <p:cNvPr id="171" name="l1hdr"/>
          <p:cNvSpPr>
            <a:spLocks noGrp="1"/>
          </p:cNvSpPr>
          <p:nvPr/>
        </p:nvSpPr>
        <p:spPr>
          <a:xfrm>
            <a:off x="7543440" y="1143000"/>
            <a:ext cx="4511160" cy="292608"/>
          </a:xfrm>
          <a:prstGeom prst="rect">
            <a:avLst/>
          </a:prstGeom>
          <a:solidFill>
            <a:srgbClr val="2E528A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FFFFFF"/>
                </a:solidFill>
                <a:latin typeface="Calibri"/>
                <a:ea typeface="Microsoft YaHei"/>
              </a:rPr>
              <a:t>L1 · 本地 DRAM</a:t>
            </a:r>
          </a:p>
        </p:txBody>
      </p:sp>
      <!-- RAM stick 1 -->
      <p:sp>
        <p:nvSpPr>
          <p:cNvPr id="172" name="ram1"/>
          <p:cNvSpPr>
            <a:spLocks noGrp="1"/>
          </p:cNvSpPr>
          <p:nvPr/>
        </p:nvSpPr>
        <p:spPr>
          <a:xfrm>
            <a:off x="7772040" y="1527048"/>
            <a:ext cx="320040" cy="914400"/>
          </a:xfrm>
          <a:prstGeom prst="rect">
            <a:avLst/>
          </a:prstGeom>
          <a:solidFill>
            <a:srgbClr val="2E528A"/>
          </a:solidFill>
          <a:ln w="9525">
            <a:solidFill>
              <a:srgbClr val="1A3870"/>
            </a:solidFill>
          </a:ln>
        </p:spPr>
        <p:txBody>
          <a:bodyPr/>
          <a:lstStyle/>
          <a:p/>
        </p:txBody>
      </p:sp>
      <!-- RAM stick 1 chips -->
      <p:sp>
        <p:nvSpPr>
          <p:cNvPr id="173" name="ram1c1"/>
          <p:cNvSpPr>
            <a:spLocks noGrp="1"/>
          </p:cNvSpPr>
          <p:nvPr/>
        </p:nvSpPr>
        <p:spPr>
          <a:xfrm>
            <a:off x="7826904" y="1636776"/>
            <a:ext cx="210792" cy="91440"/>
          </a:xfrm>
          <a:prstGeom prst="rect">
            <a:avLst/>
          </a:prstGeom>
          <a:solidFill>
            <a:srgbClr val="4A80C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ram1c2"/>
          <p:cNvSpPr>
            <a:spLocks noGrp="1"/>
          </p:cNvSpPr>
          <p:nvPr/>
        </p:nvSpPr>
        <p:spPr>
          <a:xfrm>
            <a:off x="7826904" y="1856088"/>
            <a:ext cx="210792" cy="91440"/>
          </a:xfrm>
          <a:prstGeom prst="rect">
            <a:avLst/>
          </a:prstGeom>
          <a:solidFill>
            <a:srgbClr val="4A80C0"/>
          </a:solidFill>
          <a:ln>
            <a:noFill/>
          </a:ln>
        </p:spPr>
        <p:txBody>
          <a:bodyPr/>
          <a:lstStyle/>
          <a:p/>
        </p:txBody>
      </p:sp>
      <!-- RAM stick 2 -->
      <p:sp>
        <p:nvSpPr>
          <p:cNvPr id="175" name="ram2"/>
          <p:cNvSpPr>
            <a:spLocks noGrp="1"/>
          </p:cNvSpPr>
          <p:nvPr/>
        </p:nvSpPr>
        <p:spPr>
          <a:xfrm>
            <a:off x="8183520" y="1527048"/>
            <a:ext cx="320040" cy="914400"/>
          </a:xfrm>
          <a:prstGeom prst="rect">
            <a:avLst/>
          </a:prstGeom>
          <a:solidFill>
            <a:srgbClr val="2E528A"/>
          </a:solidFill>
          <a:ln w="9525">
            <a:solidFill>
              <a:srgbClr val="1A3870"/>
            </a:solidFill>
          </a:ln>
        </p:spPr>
        <p:txBody>
          <a:bodyPr/>
          <a:lstStyle/>
          <a:p/>
        </p:txBody>
      </p:sp>
      <p:sp>
        <p:nvSpPr>
          <p:cNvPr id="176" name="ram2c1"/>
          <p:cNvSpPr>
            <a:spLocks noGrp="1"/>
          </p:cNvSpPr>
          <p:nvPr/>
        </p:nvSpPr>
        <p:spPr>
          <a:xfrm>
            <a:off x="8238384" y="1636776"/>
            <a:ext cx="210792" cy="91440"/>
          </a:xfrm>
          <a:prstGeom prst="rect">
            <a:avLst/>
          </a:prstGeom>
          <a:solidFill>
            <a:srgbClr val="4A80C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ram2c2"/>
          <p:cNvSpPr>
            <a:spLocks noGrp="1"/>
          </p:cNvSpPr>
          <p:nvPr/>
        </p:nvSpPr>
        <p:spPr>
          <a:xfrm>
            <a:off x="8238384" y="1856088"/>
            <a:ext cx="210792" cy="91440"/>
          </a:xfrm>
          <a:prstGeom prst="rect">
            <a:avLst/>
          </a:prstGeom>
          <a:solidFill>
            <a:srgbClr val="4A80C0"/>
          </a:solidFill>
          <a:ln>
            <a:noFill/>
          </a:ln>
        </p:spPr>
        <p:txBody>
          <a:bodyPr/>
          <a:lstStyle/>
          <a:p/>
        </p:txBody>
      </p:sp>
      <!-- RAM stick 3 -->
      <p:sp>
        <p:nvSpPr>
          <p:cNvPr id="178" name="ram3"/>
          <p:cNvSpPr>
            <a:spLocks noGrp="1"/>
          </p:cNvSpPr>
          <p:nvPr/>
        </p:nvSpPr>
        <p:spPr>
          <a:xfrm>
            <a:off x="8595000" y="1527048"/>
            <a:ext cx="320040" cy="914400"/>
          </a:xfrm>
          <a:prstGeom prst="rect">
            <a:avLst/>
          </a:prstGeom>
          <a:solidFill>
            <a:srgbClr val="2E528A"/>
          </a:solidFill>
          <a:ln w="9525">
            <a:solidFill>
              <a:srgbClr val="1A3870"/>
            </a:solidFill>
          </a:ln>
        </p:spPr>
        <p:txBody>
          <a:bodyPr/>
          <a:lstStyle/>
          <a:p/>
        </p:txBody>
      </p:sp>
      <p:sp>
        <p:nvSpPr>
          <p:cNvPr id="179" name="ram3c1"/>
          <p:cNvSpPr>
            <a:spLocks noGrp="1"/>
          </p:cNvSpPr>
          <p:nvPr/>
        </p:nvSpPr>
        <p:spPr>
          <a:xfrm>
            <a:off x="8649864" y="1636776"/>
            <a:ext cx="210792" cy="91440"/>
          </a:xfrm>
          <a:prstGeom prst="rect">
            <a:avLst/>
          </a:prstGeom>
          <a:solidFill>
            <a:srgbClr val="4A80C0"/>
          </a:solidFill>
          <a:ln>
            <a:noFill/>
          </a:ln>
        </p:spPr>
        <p:txBody>
          <a:bodyPr/>
          <a:lstStyle/>
          <a:p/>
        </p:txBody>
      </p:sp>
      <!-- L1 text -->
      <p:sp>
        <p:nvSpPr>
          <p:cNvPr id="180" name="l1txt"/>
          <p:cNvSpPr txBox="1"/>
          <p:nvPr/>
        </p:nvSpPr>
        <p:spPr>
          <a:xfrm>
            <a:off x="9006480" y="1508760"/>
            <a:ext cx="2956680" cy="10972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r>
              <a:rPr lang="zh-CN" sz="950" dirty="0">
                <a:solidFill>
                  <a:srgbClr val="2E3D4A"/>
                </a:solidFill>
                <a:latin typeface="Calibri"/>
                <a:ea typeface="Microsoft YaHei"/>
              </a:rPr>
              <a:t>热数据 | 直接访问</a:t>
            </a:r>
          </a:p>
          <a:p>
            <a:r>
              <a:rPr lang="zh-CN" sz="950" dirty="0">
                <a:solidFill>
                  <a:srgbClr val="2E3D4A"/>
                </a:solidFill>
                <a:latin typeface="Calibri"/>
                <a:ea typeface="Microsoft YaHei"/>
              </a:rPr>
              <a:t>延迟 ~100 ns</a:t>
            </a:r>
          </a:p>
          <a:p>
            <a:r>
              <a:rPr lang="zh-CN" sz="950" dirty="0">
                <a:solidFill>
                  <a:srgbClr val="2E3D4A"/>
                </a:solidFill>
                <a:latin typeface="Calibri"/>
                <a:ea typeface="Microsoft YaHei"/>
              </a:rPr>
              <a:t>容量 2×4 GiB / VM</a:t>
            </a:r>
          </a:p>
        </p:txBody>
      </p:sp>
      <!-- Arrow L1->L2 (downArrow shape) -->
      <p:sp>
        <p:nvSpPr>
          <p:cNvPr id="181" name="arr12"/>
          <p:cNvSpPr>
            <a:spLocks noGrp="1"/>
          </p:cNvSpPr>
          <p:nvPr/>
        </p:nvSpPr>
        <p:spPr>
          <a:xfrm>
            <a:off x="9295830" y="2788920"/>
            <a:ext cx="1005840" cy="292608"/>
          </a:xfrm>
          <a:prstGeom prst="downArrow">
            <a:avLst/>
          </a:prstGeom>
          <a:solidFill>
            <a:srgbClr val="2E528A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800" dirty="0">
                <a:solidFill>
                  <a:srgbClr val="FFFFFF"/>
                </a:solidFill>
                <a:latin typeface="Calibri"/>
                <a:ea typeface="Microsoft YaHei"/>
              </a:rPr>
              <a:t>Cache Miss ↓</a:t>
            </a:r>
          </a:p>
        </p:txBody>
      </p:sp>
      <!-- L2 UB background -->
      <p:sp>
        <p:nvSpPr>
          <p:cNvPr id="182" name="l2bg"/>
          <p:cNvSpPr>
            <a:spLocks noGrp="1"/>
          </p:cNvSpPr>
          <p:nvPr/>
        </p:nvSpPr>
        <p:spPr>
          <a:xfrm>
            <a:off x="7543440" y="3081528"/>
            <a:ext cx="4511160" cy="1645920"/>
          </a:xfrm>
          <a:prstGeom prst="rect">
            <a:avLst/>
          </a:prstGeom>
          <a:solidFill>
            <a:srgbClr val="E0EEF6"/>
          </a:solidFill>
          <a:ln w="19050">
            <a:solidFill>
              <a:srgbClr val="144E6A"/>
            </a:solidFill>
          </a:ln>
        </p:spPr>
        <p:txBody>
          <a:bodyPr/>
          <a:lstStyle/>
          <a:p/>
        </p:txBody>
      </p:sp>
      <!-- L2 header -->
      <p:sp>
        <p:nvSpPr>
          <p:cNvPr id="183" name="l2hdr"/>
          <p:cNvSpPr>
            <a:spLocks noGrp="1"/>
          </p:cNvSpPr>
          <p:nvPr/>
        </p:nvSpPr>
        <p:spPr>
          <a:xfrm>
            <a:off x="7543440" y="3081528"/>
            <a:ext cx="4511160" cy="292608"/>
          </a:xfrm>
          <a:prstGeom prst="rect">
            <a:avLst/>
          </a:prstGeom>
          <a:solidFill>
            <a:srgbClr val="144E6A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FFFFFF"/>
                </a:solidFill>
                <a:latin typeface="Calibri"/>
                <a:ea typeface="Microsoft YaHei"/>
              </a:rPr>
              <a:t>L2 · UB 借用内存（远端 DRAM）</a:t>
            </a:r>
          </a:p>
        </p:txBody>
      </p:sp>
      <!-- Network nodes (2 ellipses + connector) -->
      <p:sp>
        <p:nvSpPr>
          <p:cNvPr id="184" name="node1"/>
          <p:cNvSpPr>
            <a:spLocks noGrp="1"/>
          </p:cNvSpPr>
          <p:nvPr/>
        </p:nvSpPr>
        <p:spPr>
          <a:xfrm>
            <a:off x="7708032" y="3657600"/>
            <a:ext cx="402336" cy="402336"/>
          </a:xfrm>
          <a:prstGeom prst="ellipse">
            <a:avLst/>
          </a:prstGeom>
          <a:solidFill>
            <a:srgbClr val="144E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node2"/>
          <p:cNvSpPr>
            <a:spLocks noGrp="1"/>
          </p:cNvSpPr>
          <p:nvPr/>
        </p:nvSpPr>
        <p:spPr>
          <a:xfrm>
            <a:off x="8348112" y="3657600"/>
            <a:ext cx="402336" cy="402336"/>
          </a:xfrm>
          <a:prstGeom prst="ellipse">
            <a:avLst/>
          </a:prstGeom>
          <a:solidFill>
            <a:srgbClr val="144E6A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86" name="nodeConn"/>
          <p:cNvCxnSpPr/>
          <p:nvPr/>
        </p:nvCxnSpPr>
        <p:spPr>
          <a:xfrm>
            <a:off x="8110368" y="3858768"/>
            <a:ext cx="237912" cy="1"/>
          </a:xfrm>
          <a:prstGeom prst="line">
            <a:avLst/>
          </a:prstGeom>
          <a:noFill/>
          <a:ln w="25400">
            <a:solidFill>
              <a:srgbClr val="144E6A"/>
            </a:solidFill>
            <a:headEnd type="none"/>
            <a:tailEnd type="none"/>
          </a:ln>
        </p:spPr>
      </p:cxnSp>
      <!-- L2 text -->
      <p:sp>
        <p:nvSpPr>
          <p:cNvPr id="187" name="l2txt"/>
          <p:cNvSpPr txBox="1"/>
          <p:nvPr/>
        </p:nvSpPr>
        <p:spPr>
          <a:xfrm>
            <a:off x="9006480" y="3447288"/>
            <a:ext cx="2956680" cy="10972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r>
              <a:rPr lang="zh-CN" sz="950" dirty="0">
                <a:solidFill>
                  <a:srgbClr val="2E3D4A"/>
                </a:solidFill>
                <a:latin typeface="Calibri"/>
                <a:ea typeface="Microsoft YaHei"/>
              </a:rPr>
              <a:t>温数据 | RDMA 访问</a:t>
            </a:r>
          </a:p>
          <a:p>
            <a:r>
              <a:rPr lang="zh-CN" sz="950" dirty="0">
                <a:solidFill>
                  <a:srgbClr val="2E3D4A"/>
                </a:solidFill>
                <a:latin typeface="Calibri"/>
                <a:ea typeface="Microsoft YaHei"/>
              </a:rPr>
              <a:t>延迟 ~1 μs</a:t>
            </a:r>
          </a:p>
          <a:p>
            <a:r>
              <a:rPr lang="zh-CN" sz="950" dirty="0">
                <a:solidFill>
                  <a:srgbClr val="2E3D4A"/>
                </a:solidFill>
                <a:latin typeface="Calibri"/>
                <a:ea typeface="Microsoft YaHei"/>
              </a:rPr>
              <a:t>openEuler UB Stack 驱动</a:t>
            </a:r>
          </a:p>
        </p:txBody>
      </p:sp>
      <!-- Arrow L2->L3 -->
      <p:sp>
        <p:nvSpPr>
          <p:cNvPr id="188" name="arr23"/>
          <p:cNvSpPr>
            <a:spLocks noGrp="1"/>
          </p:cNvSpPr>
          <p:nvPr/>
        </p:nvSpPr>
        <p:spPr>
          <a:xfrm>
            <a:off x="9295830" y="4727448"/>
            <a:ext cx="1005840" cy="292608"/>
          </a:xfrm>
          <a:prstGeom prst="downArrow">
            <a:avLst/>
          </a:prstGeom>
          <a:solidFill>
            <a:srgbClr val="144E6A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800" dirty="0">
                <a:solidFill>
                  <a:srgbClr val="FFFFFF"/>
                </a:solidFill>
                <a:latin typeface="Calibri"/>
                <a:ea typeface="Microsoft YaHei"/>
              </a:rPr>
              <a:t>页面降冷 ↓</a:t>
            </a:r>
          </a:p>
        </p:txBody>
      </p:sp>
      <!-- L3 NVMe background -->
      <p:sp>
        <p:nvSpPr>
          <p:cNvPr id="189" name="l3bg"/>
          <p:cNvSpPr>
            <a:spLocks noGrp="1"/>
          </p:cNvSpPr>
          <p:nvPr/>
        </p:nvSpPr>
        <p:spPr>
          <a:xfrm>
            <a:off x="7543440" y="5020056"/>
            <a:ext cx="4511160" cy="1426464"/>
          </a:xfrm>
          <a:prstGeom prst="rect">
            <a:avLst/>
          </a:prstGeom>
          <a:solidFill>
            <a:srgbClr val="FFF0E8"/>
          </a:solidFill>
          <a:ln w="19050">
            <a:solidFill>
              <a:srgbClr val="C86010"/>
            </a:solidFill>
          </a:ln>
        </p:spPr>
        <p:txBody>
          <a:bodyPr/>
          <a:lstStyle/>
          <a:p/>
        </p:txBody>
      </p:sp>
      <!-- L3 header -->
      <p:sp>
        <p:nvSpPr>
          <p:cNvPr id="190" name="l3hdr"/>
          <p:cNvSpPr>
            <a:spLocks noGrp="1"/>
          </p:cNvSpPr>
          <p:nvPr/>
        </p:nvSpPr>
        <p:spPr>
          <a:xfrm>
            <a:off x="7543440" y="5020056"/>
            <a:ext cx="4511160" cy="292608"/>
          </a:xfrm>
          <a:prstGeom prst="rect">
            <a:avLst/>
          </a:prstGeom>
          <a:solidFill>
            <a:srgbClr val="C86010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FFFFFF"/>
                </a:solidFill>
                <a:latin typeface="Calibri"/>
                <a:ea typeface="Microsoft YaHei"/>
              </a:rPr>
              <a:t>L3 · NVMe SSD  ★ 核心超分扩展</a:t>
            </a:r>
          </a:p>
        </p:txBody>
      </p:sp>
      <!-- NVMe drive body -->
      <p:sp>
        <p:nvSpPr>
          <p:cNvPr id="191" name="nvme"/>
          <p:cNvSpPr>
            <a:spLocks noGrp="1"/>
          </p:cNvSpPr>
          <p:nvPr/>
        </p:nvSpPr>
        <p:spPr>
          <a:xfrm>
            <a:off x="7680600" y="5404104"/>
            <a:ext cx="1005840" cy="1005840"/>
          </a:xfrm>
          <a:prstGeom prst="rect">
            <a:avLst/>
          </a:prstGeom>
          <a:solidFill>
            <a:srgbClr val="2E3D4A"/>
          </a:solidFill>
          <a:ln w="9525">
            <a:solidFill>
              <a:srgbClr val="C86010"/>
            </a:solidFill>
          </a:ln>
        </p:spPr>
        <p:txBody>
          <a:bodyPr/>
          <a:lstStyle/>
          <a:p/>
        </p:txBody>
      </p:sp>
      <!-- PCB traces -->
      <p:sp>
        <p:nvSpPr>
          <p:cNvPr id="192" name="pcb1"/>
          <p:cNvSpPr>
            <a:spLocks noGrp="1"/>
          </p:cNvSpPr>
          <p:nvPr/>
        </p:nvSpPr>
        <p:spPr>
          <a:xfrm>
            <a:off x="7753752" y="5514000"/>
            <a:ext cx="859752" cy="73152"/>
          </a:xfrm>
          <a:prstGeom prst="rect">
            <a:avLst/>
          </a:prstGeom>
          <a:solidFill>
            <a:srgbClr val="C8601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pcb2"/>
          <p:cNvSpPr>
            <a:spLocks noGrp="1"/>
          </p:cNvSpPr>
          <p:nvPr/>
        </p:nvSpPr>
        <p:spPr>
          <a:xfrm>
            <a:off x="7753752" y="5697000"/>
            <a:ext cx="859752" cy="73152"/>
          </a:xfrm>
          <a:prstGeom prst="rect">
            <a:avLst/>
          </a:prstGeom>
          <a:solidFill>
            <a:srgbClr val="C8601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pcb3"/>
          <p:cNvSpPr>
            <a:spLocks noGrp="1"/>
          </p:cNvSpPr>
          <p:nvPr/>
        </p:nvSpPr>
        <p:spPr>
          <a:xfrm>
            <a:off x="7753752" y="5880000"/>
            <a:ext cx="859752" cy="73152"/>
          </a:xfrm>
          <a:prstGeom prst="rect">
            <a:avLst/>
          </a:prstGeom>
          <a:solidFill>
            <a:srgbClr val="C86010"/>
          </a:solidFill>
          <a:ln>
            <a:noFill/>
          </a:ln>
        </p:spPr>
        <p:txBody>
          <a:bodyPr/>
          <a:lstStyle/>
          <a:p/>
        </p:txBody>
      </p:sp>
      <!-- L3 text -->
      <p:sp>
        <p:nvSpPr>
          <p:cNvPr id="195" name="l3txt"/>
          <p:cNvSpPr txBox="1"/>
          <p:nvPr/>
        </p:nvSpPr>
        <p:spPr>
          <a:xfrm>
            <a:off x="9006480" y="5385816"/>
            <a:ext cx="2956680" cy="109728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lstStyle/>
          <a:p>
            <a:r>
              <a:rPr lang="zh-CN" sz="950" dirty="0">
                <a:solidFill>
                  <a:srgbClr val="2E3D4A"/>
                </a:solidFill>
                <a:latin typeface="Calibri"/>
                <a:ea typeface="Microsoft YaHei"/>
              </a:rPr>
              <a:t>冷数据 | 块设备访问</a:t>
            </a:r>
          </a:p>
          <a:p>
            <a:r>
              <a:rPr lang="zh-CN" sz="950" dirty="0">
                <a:solidFill>
                  <a:srgbClr val="2E3D4A"/>
                </a:solidFill>
                <a:latin typeface="Calibri"/>
                <a:ea typeface="Microsoft YaHei"/>
              </a:rPr>
              <a:t>延迟 ~100 μs</a:t>
            </a:r>
          </a:p>
          <a:p>
            <a:r>
              <a:rPr lang="zh-CN" sz="950" dirty="0">
                <a:solidFill>
                  <a:srgbClr val="2E3D4A"/>
                </a:solidFill>
                <a:latin typeface="Calibri"/>
                <a:ea typeface="Microsoft YaHei"/>
              </a:rPr>
              <a:t>大幅扩展可用内存容量</a:t>
            </a:r>
          </a:p>
        </p:txBody>
      </p:sp>
      <!-- Footer -->
      <p:sp>
        <p:nvSpPr>
          <p:cNvPr id="196" name="footer"/>
          <p:cNvSpPr>
            <a:spLocks noGrp="1"/>
          </p:cNvSpPr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E3D4A"/>
          </a:solidFill>
          <a:ln>
            <a:noFill/>
          </a:ln>
        </p:spPr>
        <p:txBody>
          <a:bodyPr/>
          <a:lstStyle/>
          <a:p/>
        </p:txBody>
      </p:sp>
      <!-- Footer orange border top -->
      <p:sp>
        <p:nvSpPr>
          <p:cNvPr id="197" name="footerBorder"/>
          <p:cNvSpPr>
            <a:spLocks noGrp="1"/>
          </p:cNvSpPr>
          <p:nvPr/>
        </p:nvSpPr>
        <p:spPr>
          <a:xfrm>
            <a:off x="0" y="6492240"/>
            <a:ext cx="12192000" cy="36576"/>
          </a:xfrm>
          <a:prstGeom prst="rect">
            <a:avLst/>
          </a:prstGeom>
          <a:solidFill>
            <a:srgbClr val="C86010"/>
          </a:solidFill>
          <a:ln>
            <a:noFill/>
          </a:ln>
        </p:spPr>
        <p:txBody>
          <a:bodyPr/>
          <a:lstStyle/>
          <a:p/>
        </p:txBody>
      </p:sp>
      <!-- Footer text left -->
      <p:sp>
        <p:nvSpPr>
          <p:cNvPr id="198" name="footerTxt1"/>
          <p:cNvSpPr txBox="1"/>
          <p:nvPr/>
        </p:nvSpPr>
        <p:spPr>
          <a:xfrm>
            <a:off x="182880" y="65379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l"/>
            <a:r>
              <a:rPr lang="zh-CN" sz="800" dirty="0">
                <a:solidFill>
                  <a:srgbClr val="C8D4E0"/>
                </a:solidFill>
                <a:latin typeface="Calibri"/>
                <a:ea typeface="Microsoft YaHei"/>
              </a:rPr>
              <a:t>字节跳动 火山引擎 AI 服务平台 · openEuler OLK-6.6 · UB Stack · SMAP 分层方案</a:t>
            </a:r>
          </a:p>
        </p:txBody>
      </p:sp>
      <!-- Footer text right -->
      <p:sp>
        <p:nvSpPr>
          <p:cNvPr id="199" name="footerTxt2"/>
          <p:cNvSpPr txBox="1"/>
          <p:nvPr/>
        </p:nvSpPr>
        <p:spPr>
          <a:xfrm>
            <a:off x="9800000" y="6537960"/>
            <a:ext cx="2300000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lstStyle/>
          <a:p>
            <a:pPr algn="r"/>
            <a:r>
              <a:rPr lang="en-US" sz="800" dirty="0">
                <a:solidFill>
                  <a:srgbClr val="C8D4E0"/>
                </a:solidFill>
                <a:latin typeface="Calibri"/>
              </a:rPr>
              <a:t>Confidential  —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Theme">
  <a:themeElements>
    <a:clrScheme name="Slate">
      <a:dk1>
        <a:srgbClr val="2E3D4A"/>
      </a:dk1>
      <a:lt1>
        <a:srgbClr val="FFFFFF"/>
      </a:lt1>
      <a:dk2>
        <a:srgbClr val="3E5264"/>
      </a:dk2>
      <a:lt2>
        <a:srgbClr val="F0F2F4"/>
      </a:lt2>
      <a:accent1>
        <a:srgbClr val="C86010"/>
      </a:accent1>
      <a:accent2>
        <a:srgbClr val="2E528A"/>
      </a:accent2>
      <a:accent3>
        <a:srgbClr val="144E6A"/>
      </a:accent3>
      <a:accent4>
        <a:srgbClr val="1A6A30"/>
      </a:accent4>
      <a:accent5>
        <a:srgbClr val="888888"/>
      </a:accent5>
      <a:accent6>
        <a:srgbClr val="444444"/>
      </a:accent6>
      <a:hlink>
        <a:srgbClr val="C86010"/>
      </a:hlink>
      <a:folHlink>
        <a:srgbClr val="2E528A"/>
      </a:folHlink>
    </a:clrScheme>
    <a:fontScheme name="Slat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Slat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